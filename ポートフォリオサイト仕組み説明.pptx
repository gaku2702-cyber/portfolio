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3484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Meiryo UI"/>
              </a:rPr>
              <a:t>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eiryo UI"/>
              </a:rPr>
              <a:t>ポートフォリオサイトの仕組み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D7E5"/>
                </a:solidFill>
                <a:latin typeface="Meiryo UI"/>
              </a:rPr>
              <a:t>静的 HTML × GitHub Pages × Google Apps 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eiryo UI"/>
              </a:rPr>
              <a:t>https://gaku2702-cyber.github.io/portfolio/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3C7"/>
                </a:solidFill>
                <a:latin typeface="Meiryo U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一言で言うと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7E5"/>
                </a:solidFill>
                <a:latin typeface="Meiryo UI"/>
              </a:rPr>
              <a:t>フレームワークなしの静的マルチページサイト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474720" cy="384048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3474720" cy="640080"/>
          </a:xfrm>
          <a:prstGeom prst="rect">
            <a:avLst/>
          </a:prstGeom>
          <a:solidFill>
            <a:srgbClr val="1B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 UI"/>
              </a:rPr>
              <a:t>静的 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eiryo UI"/>
              </a:rPr>
              <a:t>本体は index.html
デモは兄弟 HTML
ビルド不要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74720" cy="384048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3474720" cy="640080"/>
          </a:xfrm>
          <a:prstGeom prst="rect">
            <a:avLst/>
          </a:prstGeom>
          <a:solidFill>
            <a:srgbClr val="1B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 UI"/>
              </a:rPr>
              <a:t>GitHub 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5603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eiryo UI"/>
              </a:rPr>
              <a:t>main へ push で公開
ファイル＝そのまま URL
数分で反映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74720" cy="384048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3474720" cy="640080"/>
          </a:xfrm>
          <a:prstGeom prst="rect">
            <a:avLst/>
          </a:prstGeom>
          <a:solidFill>
            <a:srgbClr val="1B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783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eiryo UI"/>
              </a:rPr>
              <a:t>GAS 問い合わせ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56032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Meiryo UI"/>
              </a:rPr>
              <a:t>フォームだけ裏側あり
シート記録 + メール
postMessage で結果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5252"/>
                </a:solidFill>
                <a:latin typeface="Meiryo UI"/>
              </a:rPr>
              <a:t>ポートフォリオサイトの仕組み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25252"/>
                </a:solidFill>
                <a:latin typeface="Meiryo U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技術スタック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7E5"/>
                </a:solidFill>
                <a:latin typeface="Meiryo UI"/>
              </a:rPr>
              <a:t>モダン JS フレームワークは使っていない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5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264"/>
                </a:solidFill>
                <a:latin typeface="Meiryo UI"/>
              </a:rPr>
              <a:t>マークアップ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5819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Meiryo UI"/>
              </a:rPr>
              <a:t>素の HTML（lang="ja"）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30552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solidFill>
              <a:srgbClr val="C5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9514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264"/>
                </a:solidFill>
                <a:latin typeface="Meiryo UI"/>
              </a:rPr>
              <a:t>スタイル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29514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Meiryo UI"/>
              </a:rPr>
              <a:t>Tailwind CDN + index.html 内の CSS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43784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5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0837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264"/>
                </a:solidFill>
                <a:latin typeface="Meiryo UI"/>
              </a:rPr>
              <a:t>動き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00837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Meiryo UI"/>
              </a:rPr>
              <a:t>各 HTML 内のバニラ JavaScript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57016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solidFill>
              <a:srgbClr val="C5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2160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264"/>
                </a:solidFill>
                <a:latin typeface="Meiryo UI"/>
              </a:rPr>
              <a:t>フォント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7216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Meiryo UI"/>
              </a:rPr>
              <a:t>Cormorant Garamond / Noto Sans JP / Inter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70248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5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434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264"/>
                </a:solidFill>
                <a:latin typeface="Meiryo UI"/>
              </a:rPr>
              <a:t>公開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434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Meiryo UI"/>
              </a:rPr>
              <a:t>GitHub Pages（main ブランチ）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8348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solidFill>
              <a:srgbClr val="C5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1480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264"/>
                </a:solidFill>
                <a:latin typeface="Meiryo UI"/>
              </a:rPr>
              <a:t>お問い合わせ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148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Meiryo UI"/>
              </a:rPr>
              <a:t>Google Apps Script → スプレッドシート + Gmail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5252"/>
                </a:solidFill>
                <a:latin typeface="Meiryo UI"/>
              </a:rPr>
              <a:t>ポートフォリオサイトの仕組み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25252"/>
                </a:solidFill>
                <a:latin typeface="Meiryo U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全体構成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7E5"/>
                </a:solidFill>
                <a:latin typeface="Meiryo UI"/>
              </a:rPr>
              <a:t>ブラウザから見たデータの流れ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194560" cy="822960"/>
          </a:xfrm>
          <a:prstGeom prst="roundRect">
            <a:avLst>
              <a:gd name="adj" fmla="val 8000"/>
            </a:avLst>
          </a:prstGeom>
          <a:solidFill>
            <a:srgbClr val="1B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 UI"/>
              </a:rPr>
              <a:t>訪問者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 UI"/>
              </a:rPr>
              <a:t>ブラウザ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554480"/>
            <a:ext cx="2377440" cy="822960"/>
          </a:xfrm>
          <a:prstGeom prst="roundRect">
            <a:avLst>
              <a:gd name="adj" fmla="val 8000"/>
            </a:avLst>
          </a:prstGeom>
          <a:solidFill>
            <a:srgbClr val="1B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 UI"/>
              </a:rPr>
              <a:t>GitHub Pages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88920" y="1965960"/>
            <a:ext cx="457200" cy="0"/>
          </a:xfrm>
          <a:prstGeom prst="line">
            <a:avLst/>
          </a:prstGeom>
          <a:ln w="25400">
            <a:solidFill>
              <a:srgbClr val="1B32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0" y="1371600"/>
            <a:ext cx="2377440" cy="64008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 UI"/>
              </a:rPr>
              <a:t>index.html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371600"/>
            <a:ext cx="2468880" cy="64008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2323"/>
                </a:solidFill>
                <a:latin typeface="Meiryo UI"/>
              </a:rPr>
              <a:t>デモ HTML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40280"/>
            <a:ext cx="2377440" cy="64008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2323"/>
                </a:solidFill>
                <a:latin typeface="Meiryo UI"/>
              </a:rPr>
              <a:t>assets/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240280"/>
            <a:ext cx="2468880" cy="64008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32323"/>
                </a:solidFill>
                <a:latin typeface="Meiryo UI"/>
              </a:rPr>
              <a:t>covers / hero / docs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15000" y="1965960"/>
            <a:ext cx="640080" cy="0"/>
          </a:xfrm>
          <a:prstGeom prst="line">
            <a:avLst/>
          </a:prstGeom>
          <a:ln w="25400">
            <a:solidFill>
              <a:srgbClr val="1B32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3200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264"/>
                </a:solidFill>
                <a:latin typeface="Meiryo UI"/>
              </a:rPr>
              <a:t>お問い合わせの経路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49039"/>
            <a:ext cx="2286000" cy="777240"/>
          </a:xfrm>
          <a:prstGeom prst="roundRect">
            <a:avLst>
              <a:gd name="adj" fmla="val 8000"/>
            </a:avLst>
          </a:prstGeom>
          <a:solidFill>
            <a:srgbClr val="1B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 UI"/>
              </a:rPr>
              <a:t>Contact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 UI"/>
              </a:rPr>
              <a:t>フォーム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749039"/>
            <a:ext cx="2377440" cy="77724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 UI"/>
              </a:rPr>
              <a:t>GAS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 UI"/>
              </a:rPr>
              <a:t>ウェブアプリ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749039"/>
            <a:ext cx="2377440" cy="77724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2323"/>
                </a:solidFill>
                <a:latin typeface="Meiryo UI"/>
              </a:rPr>
              <a:t>スプレッド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2323"/>
                </a:solidFill>
                <a:latin typeface="Meiryo UI"/>
              </a:rPr>
              <a:t>シート記録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3749039"/>
            <a:ext cx="2286000" cy="77724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2323"/>
                </a:solidFill>
                <a:latin typeface="Meiryo UI"/>
              </a:rPr>
              <a:t>Gmail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2323"/>
                </a:solidFill>
                <a:latin typeface="Meiryo UI"/>
              </a:rPr>
              <a:t>通知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80360" y="4114800"/>
            <a:ext cx="457200" cy="0"/>
          </a:xfrm>
          <a:prstGeom prst="line">
            <a:avLst/>
          </a:prstGeom>
          <a:ln w="25400">
            <a:solidFill>
              <a:srgbClr val="1B32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806440" y="4114800"/>
            <a:ext cx="457200" cy="0"/>
          </a:xfrm>
          <a:prstGeom prst="line">
            <a:avLst/>
          </a:prstGeom>
          <a:ln w="25400">
            <a:solidFill>
              <a:srgbClr val="1B32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732520" y="4114800"/>
            <a:ext cx="457200" cy="0"/>
          </a:xfrm>
          <a:prstGeom prst="line">
            <a:avLst/>
          </a:prstGeom>
          <a:ln w="25400">
            <a:solidFill>
              <a:srgbClr val="1B32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48463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32323"/>
                </a:solidFill>
                <a:latin typeface="Meiryo UI"/>
              </a:rPr>
              <a:t>・Works カード → デモ HTML を別タブで開く / モーダル / PDF / Contact へ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32323"/>
                </a:solidFill>
                <a:latin typeface="Meiryo UI"/>
              </a:rPr>
              <a:t>・フォーム送信は hidden iframe + POST。成功/失敗は postMessage で受け取る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5252"/>
                </a:solidFill>
                <a:latin typeface="Meiryo UI"/>
              </a:rPr>
              <a:t>ポートフォリオサイトの仕組み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25252"/>
                </a:solidFill>
                <a:latin typeface="Meiryo U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ページ構成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7E5"/>
                </a:solidFill>
                <a:latin typeface="Meiryo UI"/>
              </a:rPr>
              <a:t>ファイル名がそのまま URL になる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5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264"/>
                </a:solidFill>
                <a:latin typeface="Meiryo UI"/>
              </a:rPr>
              <a:t>index.html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53619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eiryo UI"/>
              </a:rPr>
              <a:t>本体。Hero → Concept → Works → Contact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84832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solidFill>
              <a:srgbClr val="C5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4942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264"/>
                </a:solidFill>
                <a:latin typeface="Meiryo UI"/>
              </a:rPr>
              <a:t>imposition-demo.html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24942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eiryo UI"/>
              </a:rPr>
              <a:t>JFX200 面付シミュレーター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98064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5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6265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264"/>
                </a:solidFill>
                <a:latin typeface="Meiryo UI"/>
              </a:rPr>
              <a:t>photo-cut-demo.html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96265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eiryo UI"/>
              </a:rPr>
              <a:t>写真切り出しデモ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11296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solidFill>
              <a:srgbClr val="C5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7588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264"/>
                </a:solidFill>
                <a:latin typeface="Meiryo UI"/>
              </a:rPr>
              <a:t>color-correct-demo.html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67588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eiryo UI"/>
              </a:rPr>
              <a:t>カラー補正デモ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24528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5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389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264"/>
                </a:solidFill>
                <a:latin typeface="Meiryo UI"/>
              </a:rPr>
              <a:t>pman-task-demo.html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389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eiryo UI"/>
              </a:rPr>
              <a:t>MIS タスク管理モック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solidFill>
              <a:srgbClr val="C5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1023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264"/>
                </a:solidFill>
                <a:latin typeface="Meiryo UI"/>
              </a:rPr>
              <a:t>proposal-viewer.html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51023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eiryo UI"/>
              </a:rPr>
              <a:t>PDF.js による提案書ビューア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5252"/>
                </a:solidFill>
                <a:latin typeface="Meiryo UI"/>
              </a:rPr>
              <a:t>ナビはハッシュアンカー（#concept / #services / #contact）。ルーターは使わない。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5252"/>
                </a:solidFill>
                <a:latin typeface="Meiryo UI"/>
              </a:rPr>
              <a:t>ポートフォリオサイトの仕組み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25252"/>
                </a:solidFill>
                <a:latin typeface="Meiryo U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トップページの流れ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7E5"/>
                </a:solidFill>
                <a:latin typeface="Meiryo UI"/>
              </a:rPr>
              <a:t>index.html のセクション構成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B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eiryo UI"/>
              </a:rPr>
              <a:t>Hero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71800" y="2103120"/>
            <a:ext cx="365760" cy="0"/>
          </a:xfrm>
          <a:prstGeom prst="line">
            <a:avLst/>
          </a:prstGeom>
          <a:ln w="25400">
            <a:solidFill>
              <a:srgbClr val="1B32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74720" y="16459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2323"/>
                </a:solidFill>
                <a:latin typeface="Meiryo UI"/>
              </a:rPr>
              <a:t>Concept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06440" y="2103120"/>
            <a:ext cx="365760" cy="0"/>
          </a:xfrm>
          <a:prstGeom prst="line">
            <a:avLst/>
          </a:prstGeom>
          <a:ln w="25400">
            <a:solidFill>
              <a:srgbClr val="1B32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09360" y="16459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2323"/>
                </a:solidFill>
                <a:latin typeface="Meiryo UI"/>
              </a:rPr>
              <a:t>Works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41080" y="2103120"/>
            <a:ext cx="365760" cy="0"/>
          </a:xfrm>
          <a:prstGeom prst="line">
            <a:avLst/>
          </a:prstGeom>
          <a:ln w="25400">
            <a:solidFill>
              <a:srgbClr val="1B32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0" y="16459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2323"/>
                </a:solidFill>
                <a:latin typeface="Meiryo UI"/>
              </a:rPr>
              <a:t>Contact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32323"/>
                </a:solidFill>
                <a:latin typeface="Meiryo UI"/>
              </a:rPr>
              <a:t>・固定ナビ（モバイルはハンバーガー → ドロワー）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32323"/>
                </a:solidFill>
                <a:latin typeface="Meiryo UI"/>
              </a:rPr>
              <a:t>・Hero：ブランド + CTA。背景は assets/hero/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32323"/>
                </a:solidFill>
                <a:latin typeface="Meiryo UI"/>
              </a:rPr>
              <a:t>・Works：.works-grid に作品カードを手書き配置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32323"/>
                </a:solidFill>
                <a:latin typeface="Meiryo UI"/>
              </a:rPr>
              <a:t>・モーダル #tool-detail：Word→InDesign の詳細説明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32323"/>
                </a:solidFill>
                <a:latin typeface="Meiryo UI"/>
              </a:rPr>
              <a:t>・スクロール演出：IntersectionObserver で .reveal を表示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5252"/>
                </a:solidFill>
                <a:latin typeface="Meiryo UI"/>
              </a:rPr>
              <a:t>ポートフォリオサイトの仕組み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25252"/>
                </a:solidFill>
                <a:latin typeface="Meiryo U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作品データの持ち方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7E5"/>
                </a:solidFill>
                <a:latin typeface="Meiryo UI"/>
              </a:rPr>
              <a:t>CMS や作品用 JSON はない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264"/>
                </a:solidFill>
                <a:latin typeface="Meiryo UI"/>
              </a:rPr>
              <a:t>ソース・オブ・トゥルース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32323"/>
                </a:solidFill>
                <a:latin typeface="Meiryo UI"/>
              </a:rPr>
              <a:t>・作品一覧 = index.html の HTML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32323"/>
                </a:solidFill>
                <a:latin typeface="Meiryo UI"/>
              </a:rPr>
              <a:t>・カバー画像 = assets/covers/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32323"/>
                </a:solidFill>
                <a:latin typeface="Meiryo UI"/>
              </a:rPr>
              <a:t>・カテゴリ + 日本語タイトルを直書き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32323"/>
                </a:solidFill>
                <a:latin typeface="Meiryo UI"/>
              </a:rPr>
              <a:t>・アクションはデモ / モーダル / PDF / Contact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264"/>
                </a:solidFill>
                <a:latin typeface="Meiryo UI"/>
              </a:rPr>
              <a:t>例外・補助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32323"/>
                </a:solidFill>
                <a:latin typeface="Meiryo UI"/>
              </a:rPr>
              <a:t>・pman-task-demo は mock JSON を読む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32323"/>
                </a:solidFill>
                <a:latin typeface="Meiryo UI"/>
              </a:rPr>
              <a:t>・scripts/generate_work_covers.py でカバー再生成可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32323"/>
                </a:solidFill>
                <a:latin typeface="Meiryo UI"/>
              </a:rPr>
              <a:t>・公開サイトが読むのは HTML と画像パスだけ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5252"/>
                </a:solidFill>
                <a:latin typeface="Meiryo UI"/>
              </a:rPr>
              <a:t>ポートフォリオサイトの仕組み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25252"/>
                </a:solidFill>
                <a:latin typeface="Meiryo U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お問い合わせの流れ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7E5"/>
                </a:solidFill>
                <a:latin typeface="Meiryo UI"/>
              </a:rPr>
              <a:t>スパム対策付きで GAS に送る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50876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32323"/>
                </a:solidFill>
                <a:latin typeface="Meiryo UI"/>
              </a:rPr>
              <a:t>入力チェック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32323"/>
                </a:solidFill>
                <a:latin typeface="Meiryo UI"/>
              </a:rPr>
              <a:t>ハニーポット / 3秒 / CAPTCHA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91840" y="2103120"/>
            <a:ext cx="228600" cy="0"/>
          </a:xfrm>
          <a:prstGeom prst="line">
            <a:avLst/>
          </a:prstGeom>
          <a:ln w="25400">
            <a:solidFill>
              <a:srgbClr val="1B32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83280" y="155448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40" y="150876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32323"/>
                </a:solidFill>
                <a:latin typeface="Meiryo UI"/>
              </a:rPr>
              <a:t>iframe POST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32323"/>
                </a:solidFill>
                <a:latin typeface="Meiryo UI"/>
              </a:rPr>
              <a:t>GAS_URL へ送信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17920" y="2103120"/>
            <a:ext cx="228600" cy="0"/>
          </a:xfrm>
          <a:prstGeom prst="line">
            <a:avLst/>
          </a:prstGeom>
          <a:ln w="25400">
            <a:solidFill>
              <a:srgbClr val="1B32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09360" y="155448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50876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32323"/>
                </a:solidFill>
                <a:latin typeface="Meiryo UI"/>
              </a:rPr>
              <a:t>GAS 処理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32323"/>
                </a:solidFill>
                <a:latin typeface="Meiryo UI"/>
              </a:rPr>
              <a:t>シート記録 + メール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0" y="2103120"/>
            <a:ext cx="228600" cy="0"/>
          </a:xfrm>
          <a:prstGeom prst="line">
            <a:avLst/>
          </a:prstGeom>
          <a:ln w="25400">
            <a:solidFill>
              <a:srgbClr val="1B32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235440" y="155448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1508760"/>
            <a:ext cx="2148840" cy="123444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32323"/>
                </a:solidFill>
                <a:latin typeface="Meiryo UI"/>
              </a:rPr>
              <a:t>結果表示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32323"/>
                </a:solidFill>
                <a:latin typeface="Meiryo UI"/>
              </a:rPr>
              <a:t>postMessage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32323"/>
                </a:solidFill>
                <a:latin typeface="Meiryo UI"/>
              </a:rPr>
              <a:t>・サイト側：index.html の GAS_URL と handleSubmit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32323"/>
                </a:solidFill>
                <a:latin typeface="Meiryo UI"/>
              </a:rPr>
              <a:t>・サーバ側：gas/contact-form.gs（サニタイズ → シート → MailApp）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32323"/>
                </a:solidFill>
                <a:latin typeface="Meiryo UI"/>
              </a:rPr>
              <a:t>・宛先：smartdtp.studio.works@gmail.com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32323"/>
                </a:solidFill>
                <a:latin typeface="Meiryo UI"/>
              </a:rPr>
              <a:t>・URL を変えたら index.html の GAS_URL を更新して push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32323"/>
                </a:solidFill>
                <a:latin typeface="Meiryo UI"/>
              </a:rPr>
              <a:t>・トラブル時は gas/README.md（シートに行が増えるか確認）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5252"/>
                </a:solidFill>
                <a:latin typeface="Meiryo UI"/>
              </a:rPr>
              <a:t>ポートフォリオサイトの仕組み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25252"/>
                </a:solidFill>
                <a:latin typeface="Meiryo U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公開・更新フロー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7E5"/>
                </a:solidFill>
                <a:latin typeface="Meiryo UI"/>
              </a:rPr>
              <a:t>サイトにビルドステップはない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651760" cy="640080"/>
          </a:xfrm>
          <a:prstGeom prst="rect">
            <a:avLst/>
          </a:prstGeom>
          <a:solidFill>
            <a:srgbClr val="1B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1. 編集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32323"/>
                </a:solidFill>
                <a:latin typeface="Meiryo UI"/>
              </a:rPr>
              <a:t>HTML / 画像を直す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4592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645920"/>
            <a:ext cx="2651760" cy="640080"/>
          </a:xfrm>
          <a:prstGeom prst="rect">
            <a:avLst/>
          </a:prstGeom>
          <a:solidFill>
            <a:srgbClr val="1B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783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2. 確認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5603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32323"/>
                </a:solidFill>
                <a:latin typeface="Meiryo UI"/>
              </a:rPr>
              <a:t>ローカルで表示チェック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645920"/>
            <a:ext cx="2651760" cy="640080"/>
          </a:xfrm>
          <a:prstGeom prst="rect">
            <a:avLst/>
          </a:prstGeom>
          <a:solidFill>
            <a:srgbClr val="1B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3. push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603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32323"/>
                </a:solidFill>
                <a:latin typeface="Meiryo UI"/>
              </a:rPr>
              <a:t>git push origin main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64592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645920"/>
            <a:ext cx="2651760" cy="640080"/>
          </a:xfrm>
          <a:prstGeom prst="rect">
            <a:avLst/>
          </a:prstGeom>
          <a:solidFill>
            <a:srgbClr val="1B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7830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4. 反映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5603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32323"/>
                </a:solidFill>
                <a:latin typeface="Meiryo UI"/>
              </a:rPr>
              <a:t>Pages が数分で更新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062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32323"/>
                </a:solidFill>
                <a:latin typeface="Meiryo UI"/>
              </a:rPr>
              <a:t>・公開 URL：https://gaku2702-cyber.github.io/portfolio/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32323"/>
                </a:solidFill>
                <a:latin typeface="Meiryo UI"/>
              </a:rPr>
              <a:t>・color_correct/ のデスクトップ配布（build.ps1 等）は別系統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32323"/>
                </a:solidFill>
                <a:latin typeface="Meiryo UI"/>
              </a:rPr>
              <a:t>・サイト用の CI / package.json / Next.js はない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5252"/>
                </a:solidFill>
                <a:latin typeface="Meiryo UI"/>
              </a:rPr>
              <a:t>ポートフォリオサイトの仕組み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25252"/>
                </a:solidFill>
                <a:latin typeface="Meiryo U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リポジトリの周辺物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7E5"/>
                </a:solidFill>
                <a:latin typeface="Meiryo UI"/>
              </a:rPr>
              <a:t>サイト本体以外のフォルダ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5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264"/>
                </a:solidFill>
                <a:latin typeface="Meiryo UI"/>
              </a:rPr>
              <a:t>assets/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536192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eiryo UI"/>
              </a:rPr>
              <a:t>カバー・ヒーロー・デモ用データ・提案 PDF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84832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solidFill>
              <a:srgbClr val="C5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4942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264"/>
                </a:solidFill>
                <a:latin typeface="Meiryo UI"/>
              </a:rPr>
              <a:t>gas/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49424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eiryo UI"/>
              </a:rPr>
              <a:t>問い合わせ用 GAS ソースとセットアップ手順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98064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5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6265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264"/>
                </a:solidFill>
                <a:latin typeface="Meiryo UI"/>
              </a:rPr>
              <a:t>scripts/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962656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eiryo UI"/>
              </a:rPr>
              <a:t>カバー生成・手順書 DOCX / 本 PPTX 生成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11296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solidFill>
              <a:srgbClr val="C5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758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264"/>
                </a:solidFill>
                <a:latin typeface="Meiryo UI"/>
              </a:rPr>
              <a:t>color_correct/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675888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eiryo UI"/>
              </a:rPr>
              <a:t>デスクトップ製品本体（サイトのデモとは別）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24528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5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264"/>
                </a:solidFill>
                <a:latin typeface="Meiryo UI"/>
              </a:rPr>
              <a:t>photoshop_sab/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38912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eiryo UI"/>
              </a:rPr>
              <a:t>写真切り出しデモ用の PSD / サンプル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solidFill>
              <a:srgbClr val="C5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1023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264"/>
                </a:solidFill>
                <a:latin typeface="Meiryo UI"/>
              </a:rPr>
              <a:t>dtp_settings.json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5102352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323"/>
                </a:solidFill>
                <a:latin typeface="Meiryo UI"/>
              </a:rPr>
              <a:t>ローカル DTP 設定（公開パイプライン外）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5252"/>
                </a:solidFill>
                <a:latin typeface="Meiryo UI"/>
              </a:rPr>
              <a:t>ポートフォリオサイトの仕組み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25252"/>
                </a:solidFill>
                <a:latin typeface="Meiryo U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</a:rPr>
              <a:t>まとめ：触るときの目安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7E5"/>
                </a:solidFill>
                <a:latin typeface="Meiryo UI"/>
              </a:rPr>
              <a:t>何を直すとき、どのファイルか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8813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5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264"/>
                </a:solidFill>
                <a:latin typeface="Meiryo UI"/>
              </a:rPr>
              <a:t>見た目・作品追加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60020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Meiryo UI"/>
              </a:rPr>
              <a:t>index.html の Works カード + assets/covers/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21992"/>
            <a:ext cx="10881360" cy="7315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solidFill>
              <a:srgbClr val="C5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048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264"/>
                </a:solidFill>
                <a:latin typeface="Meiryo UI"/>
              </a:rPr>
              <a:t>デモの挙動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404872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Meiryo UI"/>
              </a:rPr>
              <a:t>各 *-demo.html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26664"/>
            <a:ext cx="108813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5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0954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264"/>
                </a:solidFill>
                <a:latin typeface="Meiryo UI"/>
              </a:rPr>
              <a:t>お問い合わせ不具合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209544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Meiryo UI"/>
              </a:rPr>
              <a:t>GAS_URL / GAS 再デプロイ / シート行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31336"/>
            <a:ext cx="10881360" cy="7315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solidFill>
              <a:srgbClr val="C5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1421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264"/>
                </a:solidFill>
                <a:latin typeface="Meiryo UI"/>
              </a:rPr>
              <a:t>提案 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014216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Meiryo UI"/>
              </a:rPr>
              <a:t>assets/docs/ とリンク先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36008"/>
            <a:ext cx="1088136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5C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264"/>
                </a:solidFill>
                <a:latin typeface="Meiryo UI"/>
              </a:rPr>
              <a:t>この資料の再生成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818888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Meiryo UI"/>
              </a:rPr>
              <a:t>python scripts/create_architecture_pptx.py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Meiryo UI"/>
              </a:rPr>
              <a:t>編集 → 確認 → push。それだけが公開フロー。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25252"/>
                </a:solidFill>
                <a:latin typeface="Meiryo UI"/>
              </a:rPr>
              <a:t>ポートフォリオサイトの仕組み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25252"/>
                </a:solidFill>
                <a:latin typeface="Meiryo U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